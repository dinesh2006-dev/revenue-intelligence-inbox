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6EDF3"/>
                </a:solidFill>
                <a:latin typeface="Arial"/>
              </a:defRPr>
            </a:pPr>
            <a:r>
              <a:t>Revenue Intelligence Inbox: Product Architecture &amp; Challenge</a:t>
            </a:r>
          </a:p>
          <a:p>
            <a:pPr>
              <a:spcBef>
                <a:spcPts val="400"/>
              </a:spcBef>
              <a:defRPr sz="1200">
                <a:solidFill>
                  <a:srgbClr val="8B949E"/>
                </a:solidFill>
                <a:latin typeface="Arial"/>
              </a:defRPr>
            </a:pPr>
            <a:r>
              <a:t>SpendNest Sales Management Solution · Volopay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8A6FF"/>
                </a:solidFill>
                <a:latin typeface="Arial"/>
              </a:defRPr>
            </a:pPr>
            <a:r>
              <a:t>1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58A6FF"/>
                </a:solidFill>
                <a:latin typeface="Arial"/>
              </a:defRPr>
            </a:pPr>
            <a:r>
              <a:t>The Core Manager Challenge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Sales managers are inundated with calls, calendar meetings, and disjointed CRM notes.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Asynchronous arrival: Transcripts arrive late (e.g., meeting M07 arriving in revision 2).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Noisy and deceptive metadata: Stored outcome labels (e.g., 'voicemail') frequently conflict with actual spoken dialog.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Multi-objective conversations: Single calls contain both technical vendor evaluation and customer retention issues.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3FB950"/>
                </a:solidFill>
                <a:latin typeface="Arial"/>
              </a:defRPr>
            </a:pPr>
            <a:r>
              <a:t>Product Mission &amp; Solution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Single Unified Workspace: Ingests 44 distinct interactions with zero duplicate inflation.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Deterministic Rule Engine: Runs 100% locally with zero paid API dependencies or credentials.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Transparent Evidence Anchoring: Every classification is cited to an exact transcript turn or verbatim quotation.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Robust Contract Replay: Fully respects revision ordering, deduplication keys (source_type, source_id), and manual overrides.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D29922"/>
                </a:solidFill>
                <a:latin typeface="Arial"/>
              </a:defRPr>
            </a:pPr>
            <a:r>
              <a:t>Core Capabilities Delivered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Executive Overview: Real-time telemetry, transcript coverage (40.9%), and connected-call rate (36.7%).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Split-View Inbox: Fast filtering, metadata inspector, and interactive routing controls.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Manager Daily Brief: Synthesized intelligence for 21 August 2026 across coaching and escalations.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Audit &amp; Export Hub: Complete machine-readable manifest (JSON/CSV) and verified file packages.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6EDF3"/>
                </a:solidFill>
                <a:latin typeface="Arial"/>
              </a:defRPr>
            </a:pPr>
            <a:r>
              <a:t>Data Contract Rigor, Baseline Telemetry &amp; Metric Definitions</a:t>
            </a:r>
          </a:p>
          <a:p>
            <a:pPr>
              <a:spcBef>
                <a:spcPts val="400"/>
              </a:spcBef>
              <a:defRPr sz="1200">
                <a:solidFill>
                  <a:srgbClr val="8B949E"/>
                </a:solidFill>
                <a:latin typeface="Arial"/>
              </a:defRPr>
            </a:pPr>
            <a:r>
              <a:t>Ground Truth Analysis across 44 Applied Source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8A6FF"/>
                </a:solidFill>
                <a:latin typeface="Arial"/>
              </a:defRPr>
            </a:pPr>
            <a:r>
              <a:t>2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58A6FF"/>
                </a:solidFill>
                <a:latin typeface="Arial"/>
              </a:defRPr>
            </a:pPr>
            <a:r>
              <a:t>Dataset Structure &amp; Coverage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Total Ingested Records: Exactly 44 unique records (30 calls, 14 meetings).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Initial Delivery (Rev 1): 17 usable conversation texts (10 calls, 7 meetings).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Update Delivery (Rev 2): M07 delivers 27 turns, expanding usable coverage to 18 (40.9%).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Unprocessed / Silent Records: 26 records (20 background calls, 6 silent/cancelled meetings) retained as metadata without hallucinated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3FB950"/>
                </a:solidFill>
                <a:latin typeface="Arial"/>
              </a:defRPr>
            </a:pPr>
            <a:r>
              <a:t>Authoritative Metric Formulations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Transcript Coverage: 18 / 44 = 40.9% (Usable texts divided by selected records).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Source-Reported Connected Rate: 11 / 30 = 36.7% (Calls where is_connected=true divided by non-null is_connected; unknown count = 0).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Separation of Concepts: Upstream stored connection status is explicitly separated from qualitative transcript analysis.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Null Value Handling: Null is strictly preserved as 'value absent', never coerced into zero or false.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400" b="1">
                <a:solidFill>
                  <a:srgbClr val="D29922"/>
                </a:solidFill>
                <a:latin typeface="Arial"/>
              </a:defRPr>
            </a:pPr>
            <a:r>
              <a:t>Deduplication &amp; Replay Contract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Logical Identity: Strictly the composite key (source_type, source_id).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Anti-Pattern Prevention: Never deduplicate on title, company name, phone, or array position.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Revision Precedence: Higher revision replaces full payload; older revision is ignored.</a:t>
            </a:r>
          </a:p>
          <a:p>
            <a:pPr>
              <a:spcBef>
                <a:spcPts val="800"/>
              </a:spcBef>
              <a:defRPr sz="1050">
                <a:solidFill>
                  <a:srgbClr val="E6EDF3"/>
                </a:solidFill>
                <a:latin typeface="Arial"/>
              </a:defRPr>
            </a:pPr>
            <a:r>
              <a:t>• Override Invariance: Manual routing decisions are preserved across subsequent re-imports and application restarts.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6EDF3"/>
                </a:solidFill>
                <a:latin typeface="Arial"/>
              </a:defRPr>
            </a:pPr>
            <a:r>
              <a:t>Core Conversational Discoveries &amp; Verifiable Citations</a:t>
            </a:r>
          </a:p>
          <a:p>
            <a:pPr>
              <a:spcBef>
                <a:spcPts val="400"/>
              </a:spcBef>
              <a:defRPr sz="1200">
                <a:solidFill>
                  <a:srgbClr val="8B949E"/>
                </a:solidFill>
                <a:latin typeface="Arial"/>
              </a:defRPr>
            </a:pPr>
            <a:r>
              <a:t>Grounded Source Evidence Directly Influencing Interface and Routing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8A6FF"/>
                </a:solidFill>
                <a:latin typeface="Arial"/>
              </a:defRPr>
            </a:pPr>
            <a:r>
              <a:t>3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3FB950"/>
                </a:solidFill>
                <a:latin typeface="Arial"/>
              </a:defRPr>
            </a:pPr>
            <a:r>
              <a:t>Finding 1: LedgerBridge (M02) is a Vendor Evaluation, Not a Sales Pitch</a:t>
            </a:r>
          </a:p>
          <a:p>
            <a:pPr>
              <a:spcBef>
                <a:spcPts val="600"/>
              </a:spcBef>
              <a:defRPr sz="1000" b="1">
                <a:solidFill>
                  <a:srgbClr val="D29922"/>
                </a:solidFill>
                <a:latin typeface="Arial"/>
              </a:defRPr>
            </a:pPr>
            <a:r>
              <a:t>Source Evidence: Turn 2 &amp; Turn 31</a:t>
            </a:r>
          </a:p>
          <a:p>
            <a:pPr>
              <a:spcBef>
                <a:spcPts val="600"/>
              </a:spcBef>
              <a:defRPr sz="950" i="1">
                <a:solidFill>
                  <a:srgbClr val="8B949E"/>
                </a:solidFill>
                <a:latin typeface="Arial"/>
              </a:defRPr>
            </a:pPr>
            <a:r>
              <a:t>"Supplier A: 'Then I will cover the market strategy as well as the technical integration... The basic setup begins at EUR 2,600; a more supported implementation starts at EUR 6,500...'"</a:t>
            </a:r>
          </a:p>
          <a:p>
            <a:pPr>
              <a:spcBef>
                <a:spcPts val="8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Impact: Precluded false pipeline inflation. Routed to 'Vendor / Supplier' rather than Sales Opportunity, preserving quota integrity.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F85149"/>
                </a:solidFill>
                <a:latin typeface="Arial"/>
              </a:defRPr>
            </a:pPr>
            <a:r>
              <a:t>Finding 2: Willowfield Trust (M07) Revealed 4 Severe Software Defects</a:t>
            </a:r>
          </a:p>
          <a:p>
            <a:pPr>
              <a:spcBef>
                <a:spcPts val="600"/>
              </a:spcBef>
              <a:defRPr sz="1000" b="1">
                <a:solidFill>
                  <a:srgbClr val="D29922"/>
                </a:solidFill>
                <a:latin typeface="Arial"/>
              </a:defRPr>
            </a:pPr>
            <a:r>
              <a:t>Source Evidence: Turns 3, 8, 19, 21</a:t>
            </a:r>
          </a:p>
          <a:p>
            <a:pPr>
              <a:spcBef>
                <a:spcPts val="600"/>
              </a:spcBef>
              <a:defRPr sz="950" i="1">
                <a:solidFill>
                  <a:srgbClr val="8B949E"/>
                </a:solidFill>
                <a:latin typeface="Arial"/>
              </a:defRPr>
            </a:pPr>
            <a:r>
              <a:t>"Customer A: 'When I use Mark as paid, the first payment shows INR 18,200... The amount from the previous item appears in the next one.' (Also: description edit fail, document upload fail, stuck reimbursements)."</a:t>
            </a:r>
          </a:p>
          <a:p>
            <a:pPr>
              <a:spcBef>
                <a:spcPts val="8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Impact: Triggered immediate Customer Escalation alert, engineering bug ticket creation, and stale analysis banner.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58A6FF"/>
                </a:solidFill>
                <a:latin typeface="Arial"/>
              </a:defRPr>
            </a:pPr>
            <a:r>
              <a:t>Finding 3: Internal Ops Training (M10) Identified via Speaker Topology</a:t>
            </a:r>
          </a:p>
          <a:p>
            <a:pPr>
              <a:spcBef>
                <a:spcPts val="600"/>
              </a:spcBef>
              <a:defRPr sz="1000" b="1">
                <a:solidFill>
                  <a:srgbClr val="D29922"/>
                </a:solidFill>
                <a:latin typeface="Arial"/>
              </a:defRPr>
            </a:pPr>
            <a:r>
              <a:t>Source Evidence: Turns 4 &amp; 5</a:t>
            </a:r>
          </a:p>
          <a:p>
            <a:pPr>
              <a:spcBef>
                <a:spcPts val="600"/>
              </a:spcBef>
              <a:defRPr sz="950" i="1">
                <a:solidFill>
                  <a:srgbClr val="8B949E"/>
                </a:solidFill>
                <a:latin typeface="Arial"/>
              </a:defRPr>
            </a:pPr>
            <a:r>
              <a:t>"Team member B: 'I have access to a demo account... but not back-office super-admin access.' Team member A: 'Operations uses it to create accounts, control enabled features and manage billing.'"</a:t>
            </a:r>
          </a:p>
          <a:p>
            <a:pPr>
              <a:spcBef>
                <a:spcPts val="8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Impact: Speaker detection identified all participants as internal staff; routed to 'Internal Training / Ops', keeping sales inbox uncluttered.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6EDF3"/>
                </a:solidFill>
                <a:latin typeface="Arial"/>
              </a:defRPr>
            </a:pPr>
            <a:r>
              <a:t>Difficult Routing Case &amp; Deliberately Rejected Decision</a:t>
            </a:r>
          </a:p>
          <a:p>
            <a:pPr>
              <a:spcBef>
                <a:spcPts val="400"/>
              </a:spcBef>
              <a:defRPr sz="1200">
                <a:solidFill>
                  <a:srgbClr val="8B949E"/>
                </a:solidFill>
                <a:latin typeface="Arial"/>
              </a:defRPr>
            </a:pPr>
            <a:r>
              <a:t>Architectural Trade-offs, Edge-Case Governance, and Honest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8A6FF"/>
                </a:solidFill>
                <a:latin typeface="Arial"/>
              </a:defRPr>
            </a:pPr>
            <a:r>
              <a:t>4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D29922"/>
                </a:solidFill>
                <a:latin typeface="Arial"/>
              </a:defRPr>
            </a:pPr>
            <a:r>
              <a:t>Difficult Case: M04 (Cedarwave Distribution)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Multi-Faceted Tension: Cedarwave is an existing customer suffering physical prepaid card rejection in stores.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Conflicting Intents: Customer demands proper credit cards for their INR 1.3 crore bank facility, while rep attempts to pitch a prepaid migration.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Organizational Friction: Customer also reports broken user department hierarchy and admin portal confusion.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Resolution: Avoided categorizing as a simple 'Sales Migration'. Classified as 'Customer Concern / Retention Risk' with an action item to investigate bank credit feed feasibility.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F85149"/>
                </a:solidFill>
                <a:latin typeface="Arial"/>
              </a:defRPr>
            </a:pPr>
            <a:r>
              <a:t>Deliberately Rejected Decision: Synthetic Pipeline Valuation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Alternative Considered: Using regex/LLM to extract currency figures mentioned in conversations into an aggregate CRM pipeline total.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Why Rejected: Currency mentions in conversation represent customer operational costs (e.g., M03 INR 10-13L travel pool, M04 INR 1.3 crore credit limit, M06 INR 1.3L invoice), NOT SpendNest contract revenue!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Unacceptable Risk: Summing these values would manufacture a deceptive multi-crore pipeline metric that misleads leadership.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Accepted Trade-off: Displayed qualitative deal signals and confirmed next steps without fabricated financial totals.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58A6FF"/>
                </a:solidFill>
                <a:latin typeface="Arial"/>
              </a:defRPr>
            </a:pPr>
            <a:r>
              <a:t>Rule-Based Determinism vs Live LLM Calls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Zero Cloud Cost: Runs entirely client-side without API keys, token limits, or network latency.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Auditable Reasoning: Every routing suggestion is backed by transparent deterministic checks.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Offline Operationality: Complies with strict data governance; sensitive conversation text never leaves the browser.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Human-in-the-Loop Override: Managers retain 100% control to adjust routes with immutable audit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6EDF3"/>
                </a:solidFill>
                <a:latin typeface="Arial"/>
              </a:defRPr>
            </a:pPr>
            <a:r>
              <a:t>Automated Replay Verification, Known Limitations &amp; Roadmap</a:t>
            </a:r>
          </a:p>
          <a:p>
            <a:pPr>
              <a:spcBef>
                <a:spcPts val="400"/>
              </a:spcBef>
              <a:defRPr sz="1200">
                <a:solidFill>
                  <a:srgbClr val="8B949E"/>
                </a:solidFill>
                <a:latin typeface="Arial"/>
              </a:defRPr>
            </a:pPr>
            <a:r>
              <a:t>100% Contract Test Suite Execution and Future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8A6FF"/>
                </a:solidFill>
                <a:latin typeface="Arial"/>
              </a:defRPr>
            </a:pPr>
            <a:r>
              <a:t>5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3FB950"/>
                </a:solidFill>
                <a:latin typeface="Arial"/>
              </a:defRPr>
            </a:pPr>
            <a:r>
              <a:t>Automated Contract Verification (6/6 Pass)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Test 1 (Initial Import): Ingested 44 unique records, 17 usable texts, 0 duplicates.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Test 2 (Reversed Order Re-import): Idempotency proven; record count remained exactly 44.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Test 3 (Manual Override): Changed M07 to 'customer_escalation' with audit note.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Test 4 (Revision 2 Update): Ingested M07 update (27 turns); manual route strictly preserved.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Test 5 (Older Rev 1 Re-import): Revision precedence proven; Rev 1 did not overwrite Rev 2.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Test 6 (Browser Reload): State and overrides fully restored from LocalStorage.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D29922"/>
                </a:solidFill>
                <a:latin typeface="Arial"/>
              </a:defRPr>
            </a:pPr>
            <a:r>
              <a:t>Known Limitations &amp; Disclosed Boundaries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Temporal Extract Scope: All activity represents a single local date (21 August 2026); trendlines across weeks cannot be derived.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Background Call Visibility: 20 calls lack transcripts due to upstream delivery redaction; classified strictly on metadata.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No Authoritative Staff Directory: Rep roles are inferred from call direction and meeting titles.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No CRM Stage Join: Conversation signals are presented without unverified CRM opportunity IDs.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58A6FF"/>
                </a:solidFill>
                <a:latin typeface="Arial"/>
              </a:defRPr>
            </a:pPr>
            <a:r>
              <a:t>Future Roadmap &amp; Enhancements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Bi-Directional CRM Sync: Webhook connector to push manual overrides back to Salesforce/HubSpot.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Local Small-Language Model: Optional on-device WebGPU model (e.g., Gemma 2B) for zero-latency semantic search.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Audio Waveform Viewer: Integration with audio player if un-redacted media is provided in future batches.</a:t>
            </a:r>
          </a:p>
          <a:p>
            <a:pPr>
              <a:spcBef>
                <a:spcPts val="600"/>
              </a:spcBef>
              <a:defRPr sz="1000">
                <a:solidFill>
                  <a:srgbClr val="E6EDF3"/>
                </a:solidFill>
                <a:latin typeface="Arial"/>
              </a:defRPr>
            </a:pPr>
            <a:r>
              <a:t>• Automated Engineering Webhook: Push verified customer bug passages directly to Jira/Linear.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